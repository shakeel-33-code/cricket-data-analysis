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7" r:id="rId19"/>
    <p:sldId id="278" r:id="rId20"/>
    <p:sldId id="279" r:id="rId21"/>
    <p:sldId id="28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>
        <p:scale>
          <a:sx n="100" d="100"/>
          <a:sy n="100" d="100"/>
        </p:scale>
        <p:origin x="93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inamu\AppData\Local\Microsoft\Windows\INetCache\IE\AppData\Local\Microsoft\Windows\INetCache\IE\7FNK63P2\crescent-logo%25252525252525252525252525252525252525252525252525255b1%25252525252525252525252525252525252525252525252525255d.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inamu\AppData\Local\Microsoft\Windows\INetCache\IE\AppData\Local\Microsoft\Windows\INetCache\IE\7FNK63P2\crescent-logo%25252525252525252525252525252525252525252525252525255b1%25252525252525252525252525252525252525252525252525255d.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inamu\AppData\Local\Microsoft\Windows\INetCache\IE\AppData\Local\Microsoft\Windows\INetCache\IE\7FNK63P2\crescent-logo%25252525252525252525252525252525252525252525252525255b1%25252525252525252525252525252525252525252525252525255d.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inamu\AppData\Local\Microsoft\Windows\INetCache\IE\AppData\Local\Microsoft\Windows\INetCache\IE\7FNK63P2\crescent-logo%25252525252525252525252525252525252525252525252525255b1%25252525252525252525252525252525252525252525252525255d.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inamu\AppData\Local\Microsoft\Windows\INetCache\IE\AppData\Local\Microsoft\Windows\INetCache\IE\7FNK63P2\crescent-logo%25252525252525252525252525252525252525252525252525255b1%25252525252525252525252525252525252525252525252525255d.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inamu\AppData\Local\Microsoft\Windows\INetCache\IE\AppData\Local\Microsoft\Windows\INetCache\IE\7FNK63P2\crescent-logo%25252525252525252525252525252525252525252525252525255b1%25252525252525252525252525252525252525252525252525255d.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inamu\AppData\Local\Microsoft\Windows\INetCache\IE\AppData\Local\Microsoft\Windows\INetCache\IE\7FNK63P2\crescent-logo%25252525252525252525252525252525252525252525252525255b1%25252525252525252525252525252525252525252525252525255d.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inamu\AppData\Local\Microsoft\Windows\INetCache\IE\AppData\Local\Microsoft\Windows\INetCache\IE\7FNK63P2\crescent-logo%25252525252525252525252525252525252525252525252525255b1%25252525252525252525252525252525252525252525252525255d.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inamu\AppData\Local\Microsoft\Windows\INetCache\IE\AppData\Local\Microsoft\Windows\INetCache\IE\7FNK63P2\crescent-logo%25252525252525252525252525252525252525252525252525255b1%25252525252525252525252525252525252525252525252525255d.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inamu\AppData\Local\Microsoft\Windows\INetCache\IE\AppData\Local\Microsoft\Windows\INetCache\IE\7FNK63P2\crescent-logo%25252525252525252525252525252525252525252525252525255b1%25252525252525252525252525252525252525252525252525255d.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inamu\AppData\Local\Microsoft\Windows\INetCache\IE\AppData\Local\Microsoft\Windows\INetCache\IE\7FNK63P2\crescent-logo%25252525252525252525252525252525252525252525252525255b1%25252525252525252525252525252525252525252525252525255d.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inamu\AppData\Local\Microsoft\Windows\INetCache\IE\AppData\Local\Microsoft\Windows\INetCache\IE\7FNK63P2\crescent-logo%25252525252525252525252525252525252525252525252525255b1%25252525252525252525252525252525252525252525252525255d.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inamu\AppData\Local\Microsoft\Windows\INetCache\IE\AppData\Local\Microsoft\Windows\INetCache\IE\7FNK63P2\crescent-logo%25252525252525252525252525252525252525252525252525255b1%25252525252525252525252525252525252525252525252525255d.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inamu\AppData\Local\Microsoft\Windows\INetCache\IE\AppData\Local\Microsoft\Windows\INetCache\IE\7FNK63P2\crescent-logo%25252525252525252525252525252525252525252525252525255b1%25252525252525252525252525252525252525252525252525255d.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inamu\AppData\Local\Microsoft\Windows\INetCache\IE\AppData\Local\Microsoft\Windows\INetCache\IE\7FNK63P2\crescent-logo%25252525252525252525252525252525252525252525252525255b1%25252525252525252525252525252525252525252525252525255d.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inamu\AppData\Local\Microsoft\Windows\INetCache\IE\AppData\Local\Microsoft\Windows\INetCache\IE\7FNK63P2\crescent-logo%25252525252525252525252525252525252525252525252525255b1%25252525252525252525252525252525252525252525252525255d.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inamu\AppData\Local\Microsoft\Windows\INetCache\IE\AppData\Local\Microsoft\Windows\INetCache\IE\7FNK63P2\crescent-logo%25252525252525252525252525252525252525252525252525255b1%25252525252525252525252525252525252525252525252525255d.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inamu\AppData\Local\Microsoft\Windows\INetCache\IE\AppData\Local\Microsoft\Windows\INetCache\IE\7FNK63P2\crescent-logo%25252525252525252525252525252525252525252525252525255b1%25252525252525252525252525252525252525252525252525255d.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inamu\AppData\Local\Microsoft\Windows\INetCache\IE\AppData\Local\Microsoft\Windows\INetCache\IE\7FNK63P2\crescent-logo%25252525252525252525252525252525252525252525252525255b1%25252525252525252525252525252525252525252525252525255d.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inamu\AppData\Local\Microsoft\Windows\INetCache\IE\AppData\Local\Microsoft\Windows\INetCache\IE\7FNK63P2\crescent-logo%25252525252525252525252525252525252525252525252525255b1%25252525252525252525252525252525252525252525252525255d.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inamu\AppData\Local\Microsoft\Windows\INetCache\IE\AppData\Local\Microsoft\Windows\INetCache\IE\7FNK63P2\crescent-logo%25252525252525252525252525252525252525252525252525255b1%25252525252525252525252525252525252525252525252525255d.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ile:///C:\Users\inamu\AppData\Local\Microsoft\Windows\INetCache\IE\AppData\Local\Microsoft\Windows\INetCache\IE\7FNK63P2\crescent-logo%25252525252525255b1%25252525252525255d.png"/>
          <p:cNvPicPr/>
          <p:nvPr/>
        </p:nvPicPr>
        <p:blipFill>
          <a:blip r:embed="rId2" r:link="rId3"/>
          <a:stretch>
            <a:fillRect/>
          </a:stretch>
        </p:blipFill>
        <p:spPr>
          <a:xfrm>
            <a:off x="9441180" y="24765"/>
            <a:ext cx="2725200" cy="74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47493" y="31621"/>
            <a:ext cx="595292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DEPARTMENT OF COMPUTER SCIENCE AND ENGINEERING</a:t>
            </a:r>
            <a:endParaRPr lang="en-IN" sz="1600" b="1" dirty="0"/>
          </a:p>
        </p:txBody>
      </p:sp>
      <p:sp>
        <p:nvSpPr>
          <p:cNvPr id="9" name="Text Box 8"/>
          <p:cNvSpPr txBox="1"/>
          <p:nvPr/>
        </p:nvSpPr>
        <p:spPr>
          <a:xfrm>
            <a:off x="0" y="1855015"/>
            <a:ext cx="12192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</a:rPr>
              <a:t>"Pitch Perfect: Data-Driven Predictions for the Best Cricket Squad"</a:t>
            </a:r>
          </a:p>
          <a:p>
            <a:pPr algn="ctr"/>
            <a:endParaRPr lang="en-US" sz="2800" b="1" dirty="0">
              <a:solidFill>
                <a:schemeClr val="tx1"/>
              </a:solidFill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7552055" y="3429000"/>
            <a:ext cx="4007485" cy="138747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ea typeface="Comfortaa"/>
                <a:cs typeface="Arial" panose="020B0604020202020204" pitchFamily="34" charset="0"/>
                <a:sym typeface="Comfortaa"/>
              </a:rPr>
              <a:t>Name of students</a:t>
            </a:r>
            <a:r>
              <a:rPr lang="en-US" altLang="en-GB" sz="1600" dirty="0">
                <a:solidFill>
                  <a:schemeClr val="tx1"/>
                </a:solidFill>
                <a:latin typeface="Arial" panose="020B0604020202020204" pitchFamily="34" charset="0"/>
                <a:ea typeface="Comfortaa"/>
                <a:cs typeface="Arial" panose="020B0604020202020204" pitchFamily="34" charset="0"/>
                <a:sym typeface="Comfortaa"/>
              </a:rPr>
              <a:t> 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ea typeface="Comfortaa"/>
                <a:cs typeface="Arial" panose="020B0604020202020204" pitchFamily="34" charset="0"/>
                <a:sym typeface="Comfortaa"/>
              </a:rPr>
              <a:t>: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Comfortaa"/>
              <a:cs typeface="Arial" panose="020B0604020202020204" pitchFamily="34" charset="0"/>
              <a:sym typeface="Comforta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tx1"/>
              </a:solidFill>
              <a:latin typeface="Arial" panose="020B0604020202020204" pitchFamily="34" charset="0"/>
              <a:ea typeface="Comfortaa"/>
              <a:cs typeface="Arial" panose="020B0604020202020204" pitchFamily="34" charset="0"/>
              <a:sym typeface="Comforta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600" dirty="0">
                <a:solidFill>
                  <a:schemeClr val="tx1"/>
                </a:solidFill>
                <a:latin typeface="Arial" panose="020B0604020202020204" pitchFamily="34" charset="0"/>
                <a:ea typeface="Comfortaa"/>
                <a:cs typeface="Arial" panose="020B0604020202020204" pitchFamily="34" charset="0"/>
                <a:sym typeface="Comfortaa"/>
              </a:rPr>
              <a:t>     Shakeel Ahamed R -     210071601164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600" dirty="0">
                <a:solidFill>
                  <a:schemeClr val="tx1"/>
                </a:solidFill>
                <a:latin typeface="Arial" panose="020B0604020202020204" pitchFamily="34" charset="0"/>
                <a:ea typeface="Comfortaa"/>
                <a:cs typeface="Arial" panose="020B0604020202020204" pitchFamily="34" charset="0"/>
                <a:sym typeface="Comfortaa"/>
              </a:rPr>
              <a:t>     Syed Aftab           S -     210071601176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" name="Google Shape;55;p13"/>
          <p:cNvSpPr txBox="1"/>
          <p:nvPr/>
        </p:nvSpPr>
        <p:spPr>
          <a:xfrm>
            <a:off x="838200" y="3613785"/>
            <a:ext cx="4007485" cy="138747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ea typeface="Comfortaa"/>
                <a:cs typeface="Arial" panose="020B0604020202020204" pitchFamily="34" charset="0"/>
                <a:sym typeface="Comfortaa"/>
              </a:rPr>
              <a:t>Supervisor :</a:t>
            </a: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ea typeface="Comfortaa"/>
              <a:cs typeface="Arial" panose="020B0604020202020204" pitchFamily="34" charset="0"/>
              <a:sym typeface="Comfortaa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ea typeface="Comfortaa"/>
                <a:cs typeface="Arial" panose="020B0604020202020204" pitchFamily="34" charset="0"/>
                <a:sym typeface="Comfortaa"/>
              </a:rPr>
              <a:t>Mrs.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ea typeface="Comfortaa"/>
                <a:cs typeface="Arial" panose="020B0604020202020204" pitchFamily="34" charset="0"/>
                <a:sym typeface="Comfortaa"/>
              </a:rPr>
              <a:t>VetriPriya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ea typeface="Comfortaa"/>
                <a:cs typeface="Arial" panose="020B0604020202020204" pitchFamily="34" charset="0"/>
                <a:sym typeface="Comfortaa"/>
              </a:rPr>
              <a:t> M</a:t>
            </a: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ea typeface="Comfortaa"/>
              <a:cs typeface="Arial" panose="020B0604020202020204" pitchFamily="34" charset="0"/>
              <a:sym typeface="Comfortaa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ea typeface="Comfortaa"/>
                <a:cs typeface="Arial" panose="020B0604020202020204" pitchFamily="34" charset="0"/>
                <a:sym typeface="Comfortaa"/>
              </a:rPr>
              <a:t>(Assistant Professor)</a:t>
            </a: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ea typeface="Comfortaa"/>
              <a:cs typeface="Arial" panose="020B0604020202020204" pitchFamily="34" charset="0"/>
              <a:sym typeface="Comfortaa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883720" y="5656480"/>
            <a:ext cx="8237100" cy="623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tx1"/>
                </a:solidFill>
                <a:latin typeface="Arial" panose="020B0604020202020204" pitchFamily="34" charset="0"/>
                <a:ea typeface="Comfortaa"/>
                <a:cs typeface="Arial" panose="020B0604020202020204" pitchFamily="34" charset="0"/>
                <a:sym typeface="Comfortaa"/>
              </a:rPr>
              <a:t>Domain of project :</a:t>
            </a: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ea typeface="Comfortaa"/>
                <a:cs typeface="Arial" panose="020B0604020202020204" pitchFamily="34" charset="0"/>
                <a:sym typeface="Comfortaa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ea typeface="Comfortaa"/>
                <a:cs typeface="Arial" panose="020B0604020202020204" pitchFamily="34" charset="0"/>
                <a:sym typeface="Comfortaa"/>
              </a:rPr>
              <a:t>Machine</a:t>
            </a:r>
            <a:r>
              <a:rPr lang="en-US" altLang="en-GB" sz="2000" dirty="0">
                <a:solidFill>
                  <a:schemeClr val="tx1"/>
                </a:solidFill>
                <a:latin typeface="Arial" panose="020B0604020202020204" pitchFamily="34" charset="0"/>
                <a:ea typeface="Comfortaa"/>
                <a:cs typeface="Arial" panose="020B0604020202020204" pitchFamily="34" charset="0"/>
                <a:sym typeface="Comfortaa"/>
              </a:rPr>
              <a:t> Learning</a:t>
            </a:r>
            <a:endParaRPr sz="2000" dirty="0">
              <a:solidFill>
                <a:schemeClr val="tx1"/>
              </a:solidFill>
              <a:latin typeface="Arial" panose="020B0604020202020204" pitchFamily="34" charset="0"/>
              <a:ea typeface="Comfortaa"/>
              <a:cs typeface="Arial" panose="020B0604020202020204" pitchFamily="34" charset="0"/>
              <a:sym typeface="Comforta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ile:///C:\Users\inamu\AppData\Local\Microsoft\Windows\INetCache\IE\AppData\Local\Microsoft\Windows\INetCache\IE\7FNK63P2\crescent-logo%25252525252525255b1%25252525252525255d.png"/>
          <p:cNvPicPr/>
          <p:nvPr/>
        </p:nvPicPr>
        <p:blipFill>
          <a:blip r:embed="rId2" r:link="rId3"/>
          <a:stretch>
            <a:fillRect/>
          </a:stretch>
        </p:blipFill>
        <p:spPr>
          <a:xfrm>
            <a:off x="9441180" y="24765"/>
            <a:ext cx="2725200" cy="74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47493" y="31621"/>
            <a:ext cx="595292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DEPARTMENT OF COMPUTER SCIENCE AND ENGINEERING</a:t>
            </a:r>
            <a:endParaRPr lang="en-IN" sz="1600" b="1" dirty="0"/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216132" y="304972"/>
            <a:ext cx="8424016" cy="7564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ABSTRACT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031039C-9A3D-E608-BA6C-60FAD052C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908" y="1197716"/>
            <a:ext cx="10582183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automate the extraction, cleaning, analysis, and visualization of ICC Men's T20 World Cup 2022 data using Python and Power BI, enabling smarter and faster insights in cricket analytics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Match results, batting and bowling statistics, and player information were scraped from ESPN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Cricinfo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web scraping libraries like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BeautifulSoup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raw web data was cleaned, standardized, and converted into structured CSV and JSON formats using Pandas for effective downstream analysis.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 dashboards were designed to display critical patterns such as top performers, economy rates, strike rates, and match outcomes in an interactive and engaging manner.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algorithms were applied to generate the best possible playing XI by analyzing player performance metrics while maintaining team role constraints (batsmen, bowlers, wicketkeeper, allrounders).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demonstrated how automated data pipelines and AI-driven analytics can enhance decision-making in sports, providing scalable solutions adaptable for future tournaments and live matches.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ile:///C:\Users\inamu\AppData\Local\Microsoft\Windows\INetCache\IE\AppData\Local\Microsoft\Windows\INetCache\IE\7FNK63P2\crescent-logo%25252525252525255b1%25252525252525255d.png"/>
          <p:cNvPicPr/>
          <p:nvPr/>
        </p:nvPicPr>
        <p:blipFill>
          <a:blip r:embed="rId2" r:link="rId3"/>
          <a:stretch>
            <a:fillRect/>
          </a:stretch>
        </p:blipFill>
        <p:spPr>
          <a:xfrm>
            <a:off x="9441180" y="24765"/>
            <a:ext cx="2725200" cy="74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47493" y="31621"/>
            <a:ext cx="595292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DEPARTMENT OF COMPUTER SCIENCE AND ENGINEERING</a:t>
            </a:r>
            <a:endParaRPr lang="en-IN" sz="1600" b="1" dirty="0"/>
          </a:p>
        </p:txBody>
      </p:sp>
      <p:sp>
        <p:nvSpPr>
          <p:cNvPr id="8" name="Title 1"/>
          <p:cNvSpPr>
            <a:spLocks noGrp="1"/>
          </p:cNvSpPr>
          <p:nvPr/>
        </p:nvSpPr>
        <p:spPr>
          <a:xfrm>
            <a:off x="216132" y="304972"/>
            <a:ext cx="8424016" cy="7564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LITERATURE SURVEY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505CD05-D42F-3FEF-2E88-807798DD4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062382"/>
              </p:ext>
            </p:extLst>
          </p:nvPr>
        </p:nvGraphicFramePr>
        <p:xfrm>
          <a:off x="838200" y="1455553"/>
          <a:ext cx="10515600" cy="4842179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17912190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64956693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3532680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4657886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74396599"/>
                    </a:ext>
                  </a:extLst>
                </a:gridCol>
              </a:tblGrid>
              <a:tr h="365448">
                <a:tc>
                  <a:txBody>
                    <a:bodyPr/>
                    <a:lstStyle/>
                    <a:p>
                      <a:pPr algn="l"/>
                      <a:r>
                        <a:rPr lang="en-IN" sz="1600" b="1">
                          <a:effectLst/>
                        </a:rPr>
                        <a:t>TITLE</a:t>
                      </a:r>
                      <a:endParaRPr lang="en-IN" sz="1600">
                        <a:effectLst/>
                      </a:endParaRP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>
                          <a:effectLst/>
                        </a:rPr>
                        <a:t>AUTHOR(S)</a:t>
                      </a:r>
                      <a:endParaRPr lang="en-IN" sz="1600">
                        <a:effectLst/>
                      </a:endParaRP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>
                          <a:effectLst/>
                        </a:rPr>
                        <a:t>YEAR</a:t>
                      </a:r>
                      <a:endParaRPr lang="en-IN" sz="1600">
                        <a:effectLst/>
                      </a:endParaRP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>
                          <a:effectLst/>
                        </a:rPr>
                        <a:t>PROS</a:t>
                      </a:r>
                      <a:endParaRPr lang="en-IN" sz="1600">
                        <a:effectLst/>
                      </a:endParaRP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>
                          <a:effectLst/>
                        </a:rPr>
                        <a:t>CONS</a:t>
                      </a:r>
                      <a:endParaRPr lang="en-IN" sz="1600">
                        <a:effectLst/>
                      </a:endParaRP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4881284"/>
                  </a:ext>
                </a:extLst>
              </a:tr>
              <a:tr h="1187704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Predictive Analysis in T20 Cricket Using Machine Learning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>
                          <a:effectLst/>
                        </a:rPr>
                        <a:t>R. Sharma, A. Verma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>
                          <a:effectLst/>
                        </a:rPr>
                        <a:t>2024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Effective prediction of match outcomes using ensemble models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Limited to historical data, cannot handle real-time variables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953109"/>
                  </a:ext>
                </a:extLst>
              </a:tr>
              <a:tr h="913619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Data Visualization for Sports Analytics Using Power BI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>
                          <a:effectLst/>
                        </a:rPr>
                        <a:t>S. Kapoor, T. Nair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>
                          <a:effectLst/>
                        </a:rPr>
                        <a:t>2024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Interactive and user-friendly dashboards for quick insights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Scalability issues when handling very large datasets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187293"/>
                  </a:ext>
                </a:extLst>
              </a:tr>
              <a:tr h="1187704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Building Best Squad Selection Models in Cricket Using AI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>
                          <a:effectLst/>
                        </a:rPr>
                        <a:t>P. Singh, V. Malhotra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>
                          <a:effectLst/>
                        </a:rPr>
                        <a:t>2024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Effective team optimization respecting role-based constraints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Difficulty in adapting to sudden player injuries or form slumps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681463"/>
                  </a:ext>
                </a:extLst>
              </a:tr>
              <a:tr h="1187704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Comparative Study of Machine Learning Algorithms in Sports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>
                          <a:effectLst/>
                        </a:rPr>
                        <a:t>S. Banerjee, R. Patel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>
                          <a:effectLst/>
                        </a:rPr>
                        <a:t>2024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Clear evaluation of algorithm strengths for sports prediction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effectLst/>
                        </a:rPr>
                        <a:t>Limited to selected algorithms; newer methods not covered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52338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ile:///C:\Users\inamu\AppData\Local\Microsoft\Windows\INetCache\IE\AppData\Local\Microsoft\Windows\INetCache\IE\7FNK63P2\crescent-logo%25252525252525255b1%25252525252525255d.png"/>
          <p:cNvPicPr/>
          <p:nvPr/>
        </p:nvPicPr>
        <p:blipFill>
          <a:blip r:embed="rId2" r:link="rId3"/>
          <a:stretch>
            <a:fillRect/>
          </a:stretch>
        </p:blipFill>
        <p:spPr>
          <a:xfrm>
            <a:off x="9441180" y="24765"/>
            <a:ext cx="2725200" cy="74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47493" y="31621"/>
            <a:ext cx="595292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DEPARTMENT OF COMPUTER SCIENCE AND ENGINEERING</a:t>
            </a:r>
            <a:endParaRPr lang="en-IN" sz="1600" b="1" dirty="0"/>
          </a:p>
        </p:txBody>
      </p:sp>
      <p:sp>
        <p:nvSpPr>
          <p:cNvPr id="8" name="Title 1"/>
          <p:cNvSpPr>
            <a:spLocks noGrp="1"/>
          </p:cNvSpPr>
          <p:nvPr/>
        </p:nvSpPr>
        <p:spPr>
          <a:xfrm>
            <a:off x="216132" y="304972"/>
            <a:ext cx="8424016" cy="7564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LITERATURE SURVEY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3EA0DEE-42C4-6EB3-CB81-6E0C7F4A95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01087"/>
              </p:ext>
            </p:extLst>
          </p:nvPr>
        </p:nvGraphicFramePr>
        <p:xfrm>
          <a:off x="838200" y="1647146"/>
          <a:ext cx="10515600" cy="39319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385995180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9035333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6378092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5133908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131035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TITLE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AUTHOR(S)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YEAR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PROS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CONS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529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Machine Learning Models for Player Performance Forecasting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J. Thomas, R. Iyer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High accuracy in predicting player form and potential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Model performance highly depends on quality and quantity of training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58522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Automated Data Collection from Sports Websites Using 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H. Choudhury, D. Roy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Efficient scraping using libraries like BeautifulSoup and Selenium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Scraper breaks if website structure changes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4041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Intelligent Decision Making for Cricket Team Selection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V. Srinivas, A. Mishra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Data-driven approach minimizes human bias in squad selection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Requires continuous model updates to stay effective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8231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ile:///C:\Users\inamu\AppData\Local\Microsoft\Windows\INetCache\IE\AppData\Local\Microsoft\Windows\INetCache\IE\7FNK63P2\crescent-logo%25252525252525255b1%25252525252525255d.png"/>
          <p:cNvPicPr/>
          <p:nvPr/>
        </p:nvPicPr>
        <p:blipFill>
          <a:blip r:embed="rId2" r:link="rId3"/>
          <a:stretch>
            <a:fillRect/>
          </a:stretch>
        </p:blipFill>
        <p:spPr>
          <a:xfrm>
            <a:off x="9441180" y="24765"/>
            <a:ext cx="2725200" cy="74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47493" y="31621"/>
            <a:ext cx="595292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DEPARTMENT OF COMPUTER SCIENCE AND ENGINEERING</a:t>
            </a:r>
            <a:endParaRPr lang="en-IN" sz="1600" b="1" dirty="0"/>
          </a:p>
        </p:txBody>
      </p:sp>
      <p:sp>
        <p:nvSpPr>
          <p:cNvPr id="8" name="Title 1"/>
          <p:cNvSpPr>
            <a:spLocks noGrp="1"/>
          </p:cNvSpPr>
          <p:nvPr/>
        </p:nvSpPr>
        <p:spPr>
          <a:xfrm>
            <a:off x="216132" y="304972"/>
            <a:ext cx="8424016" cy="7564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LITERATURE SURVEY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BBFE596-8C05-81CB-D205-8BC848C389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301107"/>
              </p:ext>
            </p:extLst>
          </p:nvPr>
        </p:nvGraphicFramePr>
        <p:xfrm>
          <a:off x="838200" y="1759289"/>
          <a:ext cx="10515600" cy="39319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56098644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4450338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4612149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47898583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552064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TITLE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AUTHOR(S)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YEAR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PROS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CONS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2590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Web Scraping Techniques for Sports Data Collection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M. Chen, L. Gupta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2022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Automated large-scale data collection with high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Faces legal and ethical challenges in data scraping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3623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Impact of Feature Engineering in Sports Match Prediction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A. Bose, K. Narayanan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2022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Improved model accuracy through customized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Time-consuming process, needs domain expertise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7938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Real-Time Data Analysis in Sports Analytics Using Cloud 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K. Mehra, P. Rajan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2022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Enables live data streaming and fast analytics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High operational cost and dependency on stable internet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65993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ile:///C:\Users\inamu\AppData\Local\Microsoft\Windows\INetCache\IE\AppData\Local\Microsoft\Windows\INetCache\IE\7FNK63P2\crescent-logo%25252525252525255b1%25252525252525255d.png"/>
          <p:cNvPicPr/>
          <p:nvPr/>
        </p:nvPicPr>
        <p:blipFill>
          <a:blip r:embed="rId2" r:link="rId3"/>
          <a:stretch>
            <a:fillRect/>
          </a:stretch>
        </p:blipFill>
        <p:spPr>
          <a:xfrm>
            <a:off x="9441180" y="24765"/>
            <a:ext cx="2725200" cy="74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47493" y="31621"/>
            <a:ext cx="595292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DEPARTMENT OF COMPUTER SCIENCE AND ENGINEERING</a:t>
            </a:r>
            <a:endParaRPr lang="en-IN" sz="1600" b="1" dirty="0"/>
          </a:p>
        </p:txBody>
      </p:sp>
      <p:sp>
        <p:nvSpPr>
          <p:cNvPr id="8" name="Title 1"/>
          <p:cNvSpPr>
            <a:spLocks noGrp="1"/>
          </p:cNvSpPr>
          <p:nvPr/>
        </p:nvSpPr>
        <p:spPr>
          <a:xfrm>
            <a:off x="216132" y="304972"/>
            <a:ext cx="8424016" cy="7564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EXISTING SYSTEM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D9DF66-E924-1049-4AE1-8B77FDF93A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704" y="1237103"/>
            <a:ext cx="9792591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Squad selection earlier relied heavily on human intuition, without deep analytical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backing.This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often led to biased or suboptimal team compositions based on subjective views.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Player statistics were managed using static spreadsheets with minimal real-time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updates.Such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systems lacked the ability to quickly adapt to dynamic tournament conditions.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Cricket data available on websites was mostly non-interactive and poorly visualized.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could only access raw figures without intuitive insights or graphical interpretations.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scraping approaches were basic and broke easily when websites updated layouts.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Maintenance was tedious, requiring manual corrections every time changes occurred.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was rarely applied for optimized squad building or performance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forecasting.Traditional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methods failed to utilize predictive models for player or match outcome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ile:///C:\Users\inamu\AppData\Local\Microsoft\Windows\INetCache\IE\AppData\Local\Microsoft\Windows\INetCache\IE\7FNK63P2\crescent-logo%25252525252525255b1%25252525252525255d.png"/>
          <p:cNvPicPr/>
          <p:nvPr/>
        </p:nvPicPr>
        <p:blipFill>
          <a:blip r:embed="rId2" r:link="rId3"/>
          <a:stretch>
            <a:fillRect/>
          </a:stretch>
        </p:blipFill>
        <p:spPr>
          <a:xfrm>
            <a:off x="9441180" y="24765"/>
            <a:ext cx="2725200" cy="74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47493" y="31621"/>
            <a:ext cx="595292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DEPARTMENT OF COMPUTER SCIENCE AND ENGINEERING</a:t>
            </a:r>
            <a:endParaRPr lang="en-IN" sz="1600" b="1" dirty="0"/>
          </a:p>
        </p:txBody>
      </p:sp>
      <p:sp>
        <p:nvSpPr>
          <p:cNvPr id="8" name="Title 1"/>
          <p:cNvSpPr>
            <a:spLocks noGrp="1"/>
          </p:cNvSpPr>
          <p:nvPr/>
        </p:nvSpPr>
        <p:spPr>
          <a:xfrm>
            <a:off x="216132" y="304972"/>
            <a:ext cx="8424016" cy="7564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LIMITATIONS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9124C2-5E55-154D-DAC3-D61FCB55D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4936" y="1378296"/>
            <a:ext cx="966212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scraping highly depends on the website’s structure and breaks with layout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changes.Any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modification in the target site requires reworking the scraping logic immediately.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availability of player-specific real-time metrics like fitness or injury status. Only performance stats are captured, leaving important predictive features missing.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models are restricted by historical tournament data volume.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Smaller datasets reduce the predictive accuracy and generalizability of the models.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Dashboards are static post-deployment and do not auto-refresh with new tournament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updates.Manual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re-scraping and updating is needed for every new match or data entry.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Player role classification (batsman, bowler, all-rounder) is predefined and not dynamically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updated.Players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who change roles during a tournament are not automatically detected by the system.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ile:///C:\Users\inamu\AppData\Local\Microsoft\Windows\INetCache\IE\AppData\Local\Microsoft\Windows\INetCache\IE\7FNK63P2\crescent-logo%25252525252525255b1%25252525252525255d.png"/>
          <p:cNvPicPr/>
          <p:nvPr/>
        </p:nvPicPr>
        <p:blipFill>
          <a:blip r:embed="rId2" r:link="rId3"/>
          <a:stretch>
            <a:fillRect/>
          </a:stretch>
        </p:blipFill>
        <p:spPr>
          <a:xfrm>
            <a:off x="9441180" y="24765"/>
            <a:ext cx="2725200" cy="74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47493" y="31621"/>
            <a:ext cx="595292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DEPARTMENT OF COMPUTER SCIENCE AND ENGINEERING</a:t>
            </a:r>
            <a:endParaRPr lang="en-IN" sz="1600" b="1" dirty="0"/>
          </a:p>
        </p:txBody>
      </p:sp>
      <p:sp>
        <p:nvSpPr>
          <p:cNvPr id="8" name="Title 1"/>
          <p:cNvSpPr>
            <a:spLocks noGrp="1"/>
          </p:cNvSpPr>
          <p:nvPr/>
        </p:nvSpPr>
        <p:spPr>
          <a:xfrm>
            <a:off x="216132" y="304972"/>
            <a:ext cx="8424016" cy="7564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PROPOSED SYSTEM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C56AD1B-6068-FB4A-BF88-924372C81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3577" y="1334782"/>
            <a:ext cx="10092906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fully automated web scraping system gathers structured player and match data seamlessly.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adapts dynamically to changes in website layout, reducing maintenance overhead.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and preprocessing pipelines are built using Python and Pandas frameworks.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ensures high-quality, consistent, and analysis-ready datasets for further use.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Powerful dashboards are created in Power BI to visualize batting, bowling, and team trends.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interactively explore key insights through intuitive charts and filters.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algorithms are applied to predict the best playing XI based on performance.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enforces team constraints like all-rounders, wicketkeepers, and bowlers selection.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modular architecture is designed to allow easy extension to other tournaments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seasons.Scalability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ensures the system remains effective for future cricket events and expansions.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ile:///C:\Users\inamu\AppData\Local\Microsoft\Windows\INetCache\IE\AppData\Local\Microsoft\Windows\INetCache\IE\7FNK63P2\crescent-logo%25252525252525255b1%25252525252525255d.png"/>
          <p:cNvPicPr/>
          <p:nvPr/>
        </p:nvPicPr>
        <p:blipFill>
          <a:blip r:embed="rId2" r:link="rId3"/>
          <a:stretch>
            <a:fillRect/>
          </a:stretch>
        </p:blipFill>
        <p:spPr>
          <a:xfrm>
            <a:off x="9441180" y="24765"/>
            <a:ext cx="2725200" cy="74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47493" y="31621"/>
            <a:ext cx="595292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DEPARTMENT OF COMPUTER SCIENCE AND ENGINEERING</a:t>
            </a:r>
            <a:endParaRPr lang="en-IN" sz="1600" b="1" dirty="0"/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216132" y="304972"/>
            <a:ext cx="8424016" cy="7564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287052" y="1255623"/>
            <a:ext cx="10273809" cy="55707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scrape accurate and structured match and player data from ESPN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Cricinfo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using Python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tools.Ensure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that the collected data is clean, organized, and suitable for downstream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preprocess, clean, and transform raw HTML data into structured CSV and JSON files.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Maintain consistency, handle missing values, and prepare high-quality datasets for analytics.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perform statistical analysis on batting and bowling performances across the tournament.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Highlight key metrics like strike rates, economy rates, top scorers, and wicket-takers.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create dynamic and interactive dashboards using Power BI for data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visualization.Allow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users to explore trends, comparisons, and match outcomes intuitively and effectively.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implement machine learning algorithms to predict the best possible playing XI squad.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Ensure team balance by selecting wicketkeepers, bowlers, all-rounders, and batsmen optimally.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build a modular, scalable, and reusable analytics pipeline for future tournaments and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formats.Design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with flexibility in mind so the system can easily adapt to evolving data and requirements.</a:t>
            </a:r>
          </a:p>
          <a:p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ile:///C:\Users\inamu\AppData\Local\Microsoft\Windows\INetCache\IE\AppData\Local\Microsoft\Windows\INetCache\IE\7FNK63P2\crescent-logo%25252525252525255b1%25252525252525255d.png"/>
          <p:cNvPicPr/>
          <p:nvPr/>
        </p:nvPicPr>
        <p:blipFill>
          <a:blip r:embed="rId2" r:link="rId3"/>
          <a:stretch>
            <a:fillRect/>
          </a:stretch>
        </p:blipFill>
        <p:spPr>
          <a:xfrm>
            <a:off x="9441180" y="24765"/>
            <a:ext cx="2725200" cy="74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47493" y="31621"/>
            <a:ext cx="595292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DEPARTMENT OF COMPUTER SCIENCE AND ENGINEERING</a:t>
            </a:r>
            <a:endParaRPr lang="en-IN" sz="1600" b="1" dirty="0"/>
          </a:p>
        </p:txBody>
      </p:sp>
      <p:sp>
        <p:nvSpPr>
          <p:cNvPr id="8" name="Title 1"/>
          <p:cNvSpPr>
            <a:spLocks noGrp="1"/>
          </p:cNvSpPr>
          <p:nvPr/>
        </p:nvSpPr>
        <p:spPr>
          <a:xfrm>
            <a:off x="216132" y="304972"/>
            <a:ext cx="8424016" cy="7564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ARCHITECTURE DIAGRAM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A39E30D-D5C3-19C2-8658-3B7193A40B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31" y="1544165"/>
            <a:ext cx="10449464" cy="406857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ile:///C:\Users\inamu\AppData\Local\Microsoft\Windows\INetCache\IE\AppData\Local\Microsoft\Windows\INetCache\IE\7FNK63P2\crescent-logo%25252525252525255b1%25252525252525255d.png"/>
          <p:cNvPicPr/>
          <p:nvPr/>
        </p:nvPicPr>
        <p:blipFill>
          <a:blip r:embed="rId2" r:link="rId3"/>
          <a:stretch>
            <a:fillRect/>
          </a:stretch>
        </p:blipFill>
        <p:spPr>
          <a:xfrm>
            <a:off x="9441180" y="24765"/>
            <a:ext cx="2725200" cy="74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47493" y="31621"/>
            <a:ext cx="595292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DEPARTMENT OF COMPUTER SCIENCE AND ENGINEERING</a:t>
            </a:r>
            <a:endParaRPr lang="en-IN" sz="1600" b="1" dirty="0"/>
          </a:p>
        </p:txBody>
      </p:sp>
      <p:sp>
        <p:nvSpPr>
          <p:cNvPr id="8" name="Title 1"/>
          <p:cNvSpPr>
            <a:spLocks noGrp="1"/>
          </p:cNvSpPr>
          <p:nvPr/>
        </p:nvSpPr>
        <p:spPr>
          <a:xfrm>
            <a:off x="216132" y="304972"/>
            <a:ext cx="8424016" cy="7564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MODULES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77DAC9-E449-DB59-5A50-E11D920CD726}"/>
              </a:ext>
            </a:extLst>
          </p:cNvPr>
          <p:cNvSpPr txBox="1"/>
          <p:nvPr/>
        </p:nvSpPr>
        <p:spPr>
          <a:xfrm>
            <a:off x="700574" y="1518249"/>
            <a:ext cx="111866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1. Data Acquisition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Extract structured and semi-structured data from ESPNcricinfo using Python libraries (Requests, </a:t>
            </a:r>
            <a:r>
              <a:rPr lang="en-IN" dirty="0" err="1"/>
              <a:t>BeautifulSoup</a:t>
            </a:r>
            <a:r>
              <a:rPr lang="en-IN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Capture match details, player statistics, team compositions, and tournament information.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Implement error handling for failed requests and ensure respectful scraping practices (timeouts, headers).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6E6C05C-B443-9941-EFBF-A78FCBA77CBF}"/>
              </a:ext>
            </a:extLst>
          </p:cNvPr>
          <p:cNvSpPr txBox="1"/>
          <p:nvPr/>
        </p:nvSpPr>
        <p:spPr>
          <a:xfrm>
            <a:off x="700574" y="3129357"/>
            <a:ext cx="110831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2. Data Preprocessing and Management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Clean and normalize raw scraped data using Pandas (handling missing values, standardizing formats).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Merge multiple datasets (batting, bowling, match results, player info) into relational formats.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Store processed data into CSV and JSON files for subsequent usage.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63631DE-4756-8467-DEF7-8C38EFE5F521}"/>
              </a:ext>
            </a:extLst>
          </p:cNvPr>
          <p:cNvSpPr txBox="1"/>
          <p:nvPr/>
        </p:nvSpPr>
        <p:spPr>
          <a:xfrm>
            <a:off x="700574" y="4740465"/>
            <a:ext cx="111866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 Data Analytics and Modeling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Perform exploratory data analysis (EDA) to find batting trends, bowling patterns, and team performance indicators.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Apply machine learning algorithms to predict the best playing XI squad adhering to team composition rules.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Evaluate model performance and tune parameters for optimized predictions.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ile:///C:\Users\inamu\AppData\Local\Microsoft\Windows\INetCache\IE\AppData\Local\Microsoft\Windows\INetCache\IE\7FNK63P2\crescent-logo%25252525252525255b1%25252525252525255d.png"/>
          <p:cNvPicPr/>
          <p:nvPr/>
        </p:nvPicPr>
        <p:blipFill>
          <a:blip r:embed="rId2" r:link="rId3"/>
          <a:stretch>
            <a:fillRect/>
          </a:stretch>
        </p:blipFill>
        <p:spPr>
          <a:xfrm>
            <a:off x="9441180" y="24765"/>
            <a:ext cx="2725200" cy="74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47493" y="31621"/>
            <a:ext cx="595292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DEPARTMENT OF COMPUTER SCIENCE AND ENGINEERING</a:t>
            </a:r>
            <a:endParaRPr lang="en-IN" sz="1600" b="1" dirty="0"/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216132" y="304972"/>
            <a:ext cx="8424016" cy="7564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MODULES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27C6DC-CA20-0DB2-7570-2CAEE9543F9E}"/>
              </a:ext>
            </a:extLst>
          </p:cNvPr>
          <p:cNvSpPr txBox="1"/>
          <p:nvPr/>
        </p:nvSpPr>
        <p:spPr>
          <a:xfrm>
            <a:off x="916556" y="1524818"/>
            <a:ext cx="110482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4. Visualization and Dashboard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Design interactive dashboards using Power BI for batting analysis, bowling insights, and team comparisons.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Incorporate visualizations like bar charts, heatmaps, scatter plots, and KPI indicators.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 filters based on players, matches, and teams for a dynamic user experience.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128C0D-4984-B941-49D4-204680D3D686}"/>
              </a:ext>
            </a:extLst>
          </p:cNvPr>
          <p:cNvSpPr txBox="1"/>
          <p:nvPr/>
        </p:nvSpPr>
        <p:spPr>
          <a:xfrm>
            <a:off x="916556" y="3188534"/>
            <a:ext cx="112498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5. Web Deployment and Reporting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Build a simple yet elegant HTML/CSS website to showcase project insights and downloadable files.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Integrate links to Power BI dashboards and present CSV/JSON summaries.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Document the entire pipeline through detailed reports, flow diagrams, and architectural visualizations.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ile:///C:\Users\inamu\AppData\Local\Microsoft\Windows\INetCache\IE\AppData\Local\Microsoft\Windows\INetCache\IE\7FNK63P2\crescent-logo%25252525252525255b1%25252525252525255d.png"/>
          <p:cNvPicPr/>
          <p:nvPr/>
        </p:nvPicPr>
        <p:blipFill>
          <a:blip r:embed="rId2" r:link="rId3"/>
          <a:stretch>
            <a:fillRect/>
          </a:stretch>
        </p:blipFill>
        <p:spPr>
          <a:xfrm>
            <a:off x="9441180" y="24765"/>
            <a:ext cx="2725200" cy="74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47493" y="31621"/>
            <a:ext cx="595292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DEPARTMENT OF COMPUTER SCIENCE AND ENGINEERING</a:t>
            </a:r>
            <a:endParaRPr lang="en-IN" sz="1600" b="1" dirty="0"/>
          </a:p>
        </p:txBody>
      </p:sp>
      <p:sp>
        <p:nvSpPr>
          <p:cNvPr id="3" name="Text Box 2"/>
          <p:cNvSpPr txBox="1"/>
          <p:nvPr/>
        </p:nvSpPr>
        <p:spPr>
          <a:xfrm>
            <a:off x="415290" y="1009650"/>
            <a:ext cx="9716770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1. Data Acquisition Module</a:t>
            </a:r>
          </a:p>
          <a:p>
            <a:pPr indent="0">
              <a:buFont typeface="Arial" panose="020B0604020202020204" pitchFamily="34" charset="0"/>
              <a:buNone/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802120" y="1376416"/>
            <a:ext cx="4635500" cy="5099685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DBE71F-D01D-BF6D-BBC9-E658CAC9E2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094" y="1609541"/>
            <a:ext cx="4079095" cy="2841689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3E60ECAF-8145-A015-ECF3-3963BAE733C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423957" y="1741688"/>
            <a:ext cx="5584253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Scraped structured and semi-structured data from ESPNcricinfo tournament pages.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Extracted key fields such as player stats, match results, and team lineups.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URL discovery for efficient crawling across multiple matches and player profiles.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error handling for network failures, missing data, and unexpected HTML structure changes.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Stored acquired raw data into standardized JSON and CSV formats for downstream processing.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0F47543-765A-99F9-FBFE-3B2FE051A8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094" y="4656639"/>
            <a:ext cx="3843875" cy="181946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ile:///C:\Users\inamu\AppData\Local\Microsoft\Windows\INetCache\IE\AppData\Local\Microsoft\Windows\INetCache\IE\7FNK63P2\crescent-logo%25252525252525255b1%25252525252525255d.png"/>
          <p:cNvPicPr/>
          <p:nvPr/>
        </p:nvPicPr>
        <p:blipFill>
          <a:blip r:embed="rId2" r:link="rId3"/>
          <a:stretch>
            <a:fillRect/>
          </a:stretch>
        </p:blipFill>
        <p:spPr>
          <a:xfrm>
            <a:off x="9441180" y="24765"/>
            <a:ext cx="2725200" cy="74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47493" y="31621"/>
            <a:ext cx="595292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DEPARTMENT OF COMPUTER SCIENCE AND ENGINEERING</a:t>
            </a:r>
            <a:endParaRPr lang="en-IN" sz="1600" b="1" dirty="0"/>
          </a:p>
        </p:txBody>
      </p:sp>
      <p:sp>
        <p:nvSpPr>
          <p:cNvPr id="3" name="Text Box 2"/>
          <p:cNvSpPr txBox="1"/>
          <p:nvPr/>
        </p:nvSpPr>
        <p:spPr>
          <a:xfrm>
            <a:off x="415290" y="1009650"/>
            <a:ext cx="9716770" cy="86177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2. Data Preprocessing and Management Module</a:t>
            </a:r>
          </a:p>
          <a:p>
            <a:pPr indent="0">
              <a:buFont typeface="Arial" panose="020B0604020202020204" pitchFamily="34" charset="0"/>
              <a:buNone/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7095418" y="1217068"/>
            <a:ext cx="4843540" cy="5099685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Remove inconsistencies such as missing values, duplicate records, and incorrect data formats from the raw scraped datasets.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Uniformly format columns such as player names, team names, match dates, and numerical statistics for seamless integration.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Integrate batting, bowling, player info, and match result datasets into a unified structure for holistic analysis.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Identify and fix anomalies like incomplete matches, players with partial statistics, or missing records during preprocessing.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Export clean, structured data into CSV and JSON files, maintaining clear organization for future modeling and visualization tasks.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A7CF1D-3D5F-10B8-FDDD-1A3889749C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58" y="1871424"/>
            <a:ext cx="5220142" cy="164518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ile:///C:\Users\inamu\AppData\Local\Microsoft\Windows\INetCache\IE\AppData\Local\Microsoft\Windows\INetCache\IE\7FNK63P2\crescent-logo%25252525252525255b1%25252525252525255d.png"/>
          <p:cNvPicPr/>
          <p:nvPr/>
        </p:nvPicPr>
        <p:blipFill>
          <a:blip r:embed="rId2" r:link="rId3"/>
          <a:stretch>
            <a:fillRect/>
          </a:stretch>
        </p:blipFill>
        <p:spPr>
          <a:xfrm>
            <a:off x="9441180" y="24765"/>
            <a:ext cx="2725200" cy="74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47493" y="31621"/>
            <a:ext cx="595292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DEPARTMENT OF COMPUTER SCIENCE AND ENGINEERING</a:t>
            </a:r>
            <a:endParaRPr lang="en-IN" sz="1600" b="1" dirty="0"/>
          </a:p>
        </p:txBody>
      </p:sp>
      <p:sp>
        <p:nvSpPr>
          <p:cNvPr id="3" name="Text Box 2"/>
          <p:cNvSpPr txBox="1"/>
          <p:nvPr/>
        </p:nvSpPr>
        <p:spPr>
          <a:xfrm>
            <a:off x="415290" y="1009650"/>
            <a:ext cx="9716770" cy="107721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3. Data Analytics and Modeling Module</a:t>
            </a:r>
          </a:p>
          <a:p>
            <a:pPr indent="0">
              <a:buFont typeface="Arial" panose="020B0604020202020204" pitchFamily="34" charset="0"/>
              <a:buNone/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7141210" y="1194576"/>
            <a:ext cx="4635500" cy="5099685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Perform detailed statistical analysis on batting, bowling, and match performance datasets.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Identify top performers using metrics like Strike Rate, Economy Rate, Wickets, and Runs scored.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Implement Machine Learning models (like Decision Trees or Random Forests) to predict the Best Playing XI.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Apply clustering algorithms to group players based on similar performance characteristics.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Validate model outputs by comparing them against actual match-winning combinations and expert opinions.</a:t>
            </a:r>
          </a:p>
          <a:p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5E3AE5-6832-C6B3-DDDF-06BCD20853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290" y="1521220"/>
            <a:ext cx="3311321" cy="24129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005347-6D5B-11FA-DAF0-98C2D8A84D4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54" y="4097646"/>
            <a:ext cx="3776203" cy="21966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038DDF6-1DD4-09A1-B05B-B16D22AE4DD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5852" y="2727711"/>
            <a:ext cx="2965949" cy="22487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ile:///C:\Users\inamu\AppData\Local\Microsoft\Windows\INetCache\IE\AppData\Local\Microsoft\Windows\INetCache\IE\7FNK63P2\crescent-logo%25252525252525255b1%25252525252525255d.png"/>
          <p:cNvPicPr/>
          <p:nvPr/>
        </p:nvPicPr>
        <p:blipFill>
          <a:blip r:embed="rId2" r:link="rId3"/>
          <a:stretch>
            <a:fillRect/>
          </a:stretch>
        </p:blipFill>
        <p:spPr>
          <a:xfrm>
            <a:off x="9441180" y="24765"/>
            <a:ext cx="2725200" cy="74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47493" y="31621"/>
            <a:ext cx="595292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DEPARTMENT OF COMPUTER SCIENCE AND ENGINEERING</a:t>
            </a:r>
            <a:endParaRPr lang="en-IN" sz="1600" b="1" dirty="0"/>
          </a:p>
        </p:txBody>
      </p:sp>
      <p:sp>
        <p:nvSpPr>
          <p:cNvPr id="3" name="Text Box 2"/>
          <p:cNvSpPr txBox="1"/>
          <p:nvPr/>
        </p:nvSpPr>
        <p:spPr>
          <a:xfrm>
            <a:off x="415290" y="1009650"/>
            <a:ext cx="9716770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4. Visualization and Dashboard Module</a:t>
            </a:r>
          </a:p>
          <a:p>
            <a:pPr indent="0">
              <a:buFont typeface="Arial" panose="020B0604020202020204" pitchFamily="34" charset="0"/>
              <a:buNone/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6802120" y="1342390"/>
            <a:ext cx="5257165" cy="5099685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F8BBF3C-884B-D700-EB1A-BAC91001140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668968" y="1214576"/>
            <a:ext cx="5390317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interactive dashboards using Power BI to visualize player performances, team comparisons, and match summaries dynamically.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bar charts, line plots, pie charts, and heatmaps for intuitive interpretation of batting strike rates, bowling economy rates, and match results.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slicers and filters in dashboards for user-driven exploration based on players, teams, and match stages.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Highlight key performance indicators (KPIs) like highest run scorers, top wicket-takers, and best economy rate bowlers with visual emphasis.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dashboards are visually appealing, mobile-friendly, and exportable for reports and stakeholder presentations.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C59D9C0-8443-DA7F-7CFA-1F53B28F6E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290" y="2066680"/>
            <a:ext cx="5872651" cy="38732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ile:///C:\Users\inamu\AppData\Local\Microsoft\Windows\INetCache\IE\AppData\Local\Microsoft\Windows\INetCache\IE\7FNK63P2\crescent-logo%25252525252525255b1%25252525252525255d.png"/>
          <p:cNvPicPr/>
          <p:nvPr/>
        </p:nvPicPr>
        <p:blipFill>
          <a:blip r:embed="rId2" r:link="rId3"/>
          <a:stretch>
            <a:fillRect/>
          </a:stretch>
        </p:blipFill>
        <p:spPr>
          <a:xfrm>
            <a:off x="9441180" y="24765"/>
            <a:ext cx="2725200" cy="74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47493" y="31621"/>
            <a:ext cx="595292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DEPARTMENT OF COMPUTER SCIENCE AND ENGINEERING</a:t>
            </a:r>
            <a:endParaRPr lang="en-IN" sz="1600" b="1" dirty="0"/>
          </a:p>
        </p:txBody>
      </p:sp>
      <p:sp>
        <p:nvSpPr>
          <p:cNvPr id="3" name="Text Box 2"/>
          <p:cNvSpPr txBox="1"/>
          <p:nvPr/>
        </p:nvSpPr>
        <p:spPr>
          <a:xfrm>
            <a:off x="415290" y="1009650"/>
            <a:ext cx="9716770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5. Web Deployment and Reporting Module</a:t>
            </a:r>
          </a:p>
          <a:p>
            <a:pPr indent="0">
              <a:buFont typeface="Arial" panose="020B0604020202020204" pitchFamily="34" charset="0"/>
              <a:buNone/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812597" y="1178488"/>
            <a:ext cx="5257165" cy="5099685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Develop a clean and responsive HTML/CSS website to present the project outcomes in a user-friendly manner.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Attach downloadable CSV, JSON files, and visual assets generated during the data processing and analysis phases.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Embed or link Power BI dashboards for interactive visualization without requiring users to open separate tools.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Host project documentation, architecture diagrams, data flow diagrams, and ER diagrams clearly for reviewer access.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Ensure smooth navigation, accessibility across devices, and proper organization of results for final project showcasing.</a:t>
            </a:r>
          </a:p>
          <a:p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8FB58C-F85E-606A-82C0-7D19EAC6FA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68" y="1678297"/>
            <a:ext cx="5167831" cy="467026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ile:///C:\Users\inamu\AppData\Local\Microsoft\Windows\INetCache\IE\AppData\Local\Microsoft\Windows\INetCache\IE\7FNK63P2\crescent-logo%25252525252525255b1%25252525252525255d.png"/>
          <p:cNvPicPr/>
          <p:nvPr/>
        </p:nvPicPr>
        <p:blipFill>
          <a:blip r:embed="rId2" r:link="rId3"/>
          <a:stretch>
            <a:fillRect/>
          </a:stretch>
        </p:blipFill>
        <p:spPr>
          <a:xfrm>
            <a:off x="9441180" y="24765"/>
            <a:ext cx="2725200" cy="74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47493" y="31621"/>
            <a:ext cx="595292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DEPARTMENT OF COMPUTER SCIENCE AND ENGINEERING</a:t>
            </a:r>
            <a:endParaRPr lang="en-IN" sz="1600" b="1" dirty="0"/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216132" y="304972"/>
            <a:ext cx="8424016" cy="7564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SYSTEM REQUIREMENT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415290" y="1009650"/>
            <a:ext cx="971677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Software Specification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08567D-CE01-EE29-5927-C1B8182236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182111"/>
              </p:ext>
            </p:extLst>
          </p:nvPr>
        </p:nvGraphicFramePr>
        <p:xfrm>
          <a:off x="1630392" y="1610244"/>
          <a:ext cx="9057735" cy="4612262"/>
        </p:xfrm>
        <a:graphic>
          <a:graphicData uri="http://schemas.openxmlformats.org/drawingml/2006/table">
            <a:tbl>
              <a:tblPr/>
              <a:tblGrid>
                <a:gridCol w="3019245">
                  <a:extLst>
                    <a:ext uri="{9D8B030D-6E8A-4147-A177-3AD203B41FA5}">
                      <a16:colId xmlns:a16="http://schemas.microsoft.com/office/drawing/2014/main" val="290493065"/>
                    </a:ext>
                  </a:extLst>
                </a:gridCol>
                <a:gridCol w="3019245">
                  <a:extLst>
                    <a:ext uri="{9D8B030D-6E8A-4147-A177-3AD203B41FA5}">
                      <a16:colId xmlns:a16="http://schemas.microsoft.com/office/drawing/2014/main" val="2361910532"/>
                    </a:ext>
                  </a:extLst>
                </a:gridCol>
                <a:gridCol w="3019245">
                  <a:extLst>
                    <a:ext uri="{9D8B030D-6E8A-4147-A177-3AD203B41FA5}">
                      <a16:colId xmlns:a16="http://schemas.microsoft.com/office/drawing/2014/main" val="742134735"/>
                    </a:ext>
                  </a:extLst>
                </a:gridCol>
              </a:tblGrid>
              <a:tr h="323668">
                <a:tc>
                  <a:txBody>
                    <a:bodyPr/>
                    <a:lstStyle/>
                    <a:p>
                      <a:pPr algn="l"/>
                      <a:r>
                        <a:rPr lang="en-IN" sz="1300" b="1">
                          <a:effectLst/>
                        </a:rPr>
                        <a:t>Software/Tool</a:t>
                      </a:r>
                      <a:endParaRPr lang="en-IN" sz="1300">
                        <a:effectLst/>
                      </a:endParaRP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 b="1" dirty="0">
                          <a:effectLst/>
                        </a:rPr>
                        <a:t>Purpose</a:t>
                      </a:r>
                      <a:endParaRPr lang="en-IN" sz="1300" dirty="0">
                        <a:effectLst/>
                      </a:endParaRP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 b="1" dirty="0">
                          <a:effectLst/>
                        </a:rPr>
                        <a:t>Version/Details</a:t>
                      </a:r>
                      <a:endParaRPr lang="en-IN" sz="1300" dirty="0">
                        <a:effectLst/>
                      </a:endParaRP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378892"/>
                  </a:ext>
                </a:extLst>
              </a:tr>
              <a:tr h="566418">
                <a:tc>
                  <a:txBody>
                    <a:bodyPr/>
                    <a:lstStyle/>
                    <a:p>
                      <a:pPr algn="l"/>
                      <a:r>
                        <a:rPr lang="en-IN" sz="1300">
                          <a:effectLst/>
                        </a:rPr>
                        <a:t>Python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effectLst/>
                        </a:rPr>
                        <a:t>Web scraping, data processing, and ML modeling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>
                          <a:effectLst/>
                        </a:rPr>
                        <a:t>Version 3.8 or above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514743"/>
                  </a:ext>
                </a:extLst>
              </a:tr>
              <a:tr h="566418">
                <a:tc>
                  <a:txBody>
                    <a:bodyPr/>
                    <a:lstStyle/>
                    <a:p>
                      <a:pPr algn="l"/>
                      <a:r>
                        <a:rPr lang="en-IN" sz="1300">
                          <a:effectLst/>
                        </a:rPr>
                        <a:t>BeautifulSoup, Requests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effectLst/>
                        </a:rPr>
                        <a:t>HTML parsing and HTTP requests handling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>
                          <a:effectLst/>
                        </a:rPr>
                        <a:t>Latest pip versions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2668456"/>
                  </a:ext>
                </a:extLst>
              </a:tr>
              <a:tr h="566418">
                <a:tc>
                  <a:txBody>
                    <a:bodyPr/>
                    <a:lstStyle/>
                    <a:p>
                      <a:pPr algn="l"/>
                      <a:r>
                        <a:rPr lang="en-IN" sz="1300">
                          <a:effectLst/>
                        </a:rPr>
                        <a:t>Pandas, NumPy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effectLst/>
                        </a:rPr>
                        <a:t>Data cleaning, transformation, and numerical operations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>
                          <a:effectLst/>
                        </a:rPr>
                        <a:t>Latest pip versions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7728758"/>
                  </a:ext>
                </a:extLst>
              </a:tr>
              <a:tr h="566418">
                <a:tc>
                  <a:txBody>
                    <a:bodyPr/>
                    <a:lstStyle/>
                    <a:p>
                      <a:pPr algn="l"/>
                      <a:r>
                        <a:rPr lang="en-IN" sz="1300">
                          <a:effectLst/>
                        </a:rPr>
                        <a:t>Scikit-learn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effectLst/>
                        </a:rPr>
                        <a:t>Machine learning algorithms for player prediction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>
                          <a:effectLst/>
                        </a:rPr>
                        <a:t>Latest pip version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7351444"/>
                  </a:ext>
                </a:extLst>
              </a:tr>
              <a:tr h="566418">
                <a:tc>
                  <a:txBody>
                    <a:bodyPr/>
                    <a:lstStyle/>
                    <a:p>
                      <a:pPr algn="l"/>
                      <a:r>
                        <a:rPr lang="en-IN" sz="1300">
                          <a:effectLst/>
                        </a:rPr>
                        <a:t>Power BI Desktop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>
                          <a:effectLst/>
                        </a:rPr>
                        <a:t>Building dashboards and visualizations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>
                          <a:effectLst/>
                        </a:rPr>
                        <a:t>Latest version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767545"/>
                  </a:ext>
                </a:extLst>
              </a:tr>
              <a:tr h="566418">
                <a:tc>
                  <a:txBody>
                    <a:bodyPr/>
                    <a:lstStyle/>
                    <a:p>
                      <a:pPr algn="l"/>
                      <a:r>
                        <a:rPr lang="en-IN" sz="1300">
                          <a:effectLst/>
                        </a:rPr>
                        <a:t>Anaconda / Jupyter Notebook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effectLst/>
                        </a:rPr>
                        <a:t>Code development and analysis in organized manner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>
                          <a:effectLst/>
                        </a:rPr>
                        <a:t>Latest distribution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960336"/>
                  </a:ext>
                </a:extLst>
              </a:tr>
              <a:tr h="323668">
                <a:tc>
                  <a:txBody>
                    <a:bodyPr/>
                    <a:lstStyle/>
                    <a:p>
                      <a:pPr algn="l"/>
                      <a:r>
                        <a:rPr lang="en-IN" sz="1300">
                          <a:effectLst/>
                        </a:rPr>
                        <a:t>VS Code / PyCharm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effectLst/>
                        </a:rPr>
                        <a:t>Python code editing and debugging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>
                          <a:effectLst/>
                        </a:rPr>
                        <a:t>Latest stable versions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5853935"/>
                  </a:ext>
                </a:extLst>
              </a:tr>
              <a:tr h="566418">
                <a:tc>
                  <a:txBody>
                    <a:bodyPr/>
                    <a:lstStyle/>
                    <a:p>
                      <a:pPr algn="l"/>
                      <a:r>
                        <a:rPr lang="en-IN" sz="1300">
                          <a:effectLst/>
                        </a:rPr>
                        <a:t>Chrome / Edge Browser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effectLst/>
                        </a:rPr>
                        <a:t>Viewing web pages, testing web deployment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 dirty="0">
                          <a:effectLst/>
                        </a:rPr>
                        <a:t>Updated to latest version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662142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ile:///C:\Users\inamu\AppData\Local\Microsoft\Windows\INetCache\IE\AppData\Local\Microsoft\Windows\INetCache\IE\7FNK63P2\crescent-logo%25252525252525255b1%25252525252525255d.png"/>
          <p:cNvPicPr/>
          <p:nvPr/>
        </p:nvPicPr>
        <p:blipFill>
          <a:blip r:embed="rId2" r:link="rId3"/>
          <a:stretch>
            <a:fillRect/>
          </a:stretch>
        </p:blipFill>
        <p:spPr>
          <a:xfrm>
            <a:off x="9441180" y="24765"/>
            <a:ext cx="2725200" cy="74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47493" y="31621"/>
            <a:ext cx="595292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DEPARTMENT OF COMPUTER SCIENCE AND ENGINEERING</a:t>
            </a:r>
            <a:endParaRPr lang="en-IN" sz="1600" b="1" dirty="0"/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216132" y="304972"/>
            <a:ext cx="8424016" cy="7564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SYSTEM REQUIREMENT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415290" y="1009650"/>
            <a:ext cx="971677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Hardware Specification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D0598B4-6594-F771-0939-590C0DF5A5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657278"/>
              </p:ext>
            </p:extLst>
          </p:nvPr>
        </p:nvGraphicFramePr>
        <p:xfrm>
          <a:off x="1319840" y="2192335"/>
          <a:ext cx="9421482" cy="2133600"/>
        </p:xfrm>
        <a:graphic>
          <a:graphicData uri="http://schemas.openxmlformats.org/drawingml/2006/table">
            <a:tbl>
              <a:tblPr/>
              <a:tblGrid>
                <a:gridCol w="3140494">
                  <a:extLst>
                    <a:ext uri="{9D8B030D-6E8A-4147-A177-3AD203B41FA5}">
                      <a16:colId xmlns:a16="http://schemas.microsoft.com/office/drawing/2014/main" val="584776745"/>
                    </a:ext>
                  </a:extLst>
                </a:gridCol>
                <a:gridCol w="3140494">
                  <a:extLst>
                    <a:ext uri="{9D8B030D-6E8A-4147-A177-3AD203B41FA5}">
                      <a16:colId xmlns:a16="http://schemas.microsoft.com/office/drawing/2014/main" val="3429223268"/>
                    </a:ext>
                  </a:extLst>
                </a:gridCol>
                <a:gridCol w="3140494">
                  <a:extLst>
                    <a:ext uri="{9D8B030D-6E8A-4147-A177-3AD203B41FA5}">
                      <a16:colId xmlns:a16="http://schemas.microsoft.com/office/drawing/2014/main" val="9162628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300" b="1">
                          <a:effectLst/>
                        </a:rPr>
                        <a:t>Hardware Component</a:t>
                      </a:r>
                      <a:endParaRPr lang="en-IN" sz="13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 b="1">
                          <a:effectLst/>
                        </a:rPr>
                        <a:t>Minimum Specification</a:t>
                      </a:r>
                      <a:endParaRPr lang="en-IN" sz="13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 b="1">
                          <a:effectLst/>
                        </a:rPr>
                        <a:t>Purpose</a:t>
                      </a:r>
                      <a:endParaRPr lang="en-IN" sz="13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1439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300">
                          <a:effectLst/>
                        </a:rPr>
                        <a:t>Processor (CPU)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effectLst/>
                        </a:rPr>
                        <a:t>Intel Core i3 (8th Gen) / AMD Ryzen 3 or higher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effectLst/>
                        </a:rPr>
                        <a:t>To handle Python scripting, scraping, and basic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9956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300">
                          <a:effectLst/>
                        </a:rPr>
                        <a:t>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>
                          <a:effectLst/>
                        </a:rPr>
                        <a:t>8 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effectLst/>
                        </a:rPr>
                        <a:t>Smooth running of scripts and Power BI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328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300">
                          <a:effectLst/>
                        </a:rPr>
                        <a:t>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>
                          <a:effectLst/>
                        </a:rPr>
                        <a:t>256 GB SSD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effectLst/>
                        </a:rPr>
                        <a:t>Fast data reading/writing, enough for JSON/CSV files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109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300">
                          <a:effectLst/>
                        </a:rPr>
                        <a:t>Internet Connection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>
                          <a:effectLst/>
                        </a:rPr>
                        <a:t>Stable broadband (≥ 10 Mbps)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effectLst/>
                        </a:rPr>
                        <a:t>For web scraping and dashboard access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019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300">
                          <a:effectLst/>
                        </a:rPr>
                        <a:t>Display Monitor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>
                          <a:effectLst/>
                        </a:rPr>
                        <a:t>14 inches, HD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effectLst/>
                        </a:rPr>
                        <a:t>Clear view of coding and visual dashboards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93273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ile:///C:\Users\inamu\AppData\Local\Microsoft\Windows\INetCache\IE\AppData\Local\Microsoft\Windows\INetCache\IE\7FNK63P2\crescent-logo%25252525252525255b1%25252525252525255d.png"/>
          <p:cNvPicPr/>
          <p:nvPr/>
        </p:nvPicPr>
        <p:blipFill>
          <a:blip r:embed="rId2" r:link="rId3"/>
          <a:stretch>
            <a:fillRect/>
          </a:stretch>
        </p:blipFill>
        <p:spPr>
          <a:xfrm>
            <a:off x="9441180" y="24765"/>
            <a:ext cx="2725200" cy="74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47493" y="31621"/>
            <a:ext cx="595292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DEPARTMENT OF COMPUTER SCIENCE AND ENGINEERING</a:t>
            </a:r>
            <a:endParaRPr lang="en-IN" sz="1600" b="1" dirty="0"/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216132" y="304972"/>
            <a:ext cx="8424016" cy="7564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1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16132" y="1647825"/>
            <a:ext cx="11561445" cy="473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[1]. B. Hassan, C. Clough, Y. Siddiqi, R. Faizan Ali and M. A.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Arshed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, "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PlayerRank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: Leveraging Learning-to-Rank AI for Player Positioning in Cricket," in IEEE Access, vol. 12, pp. 177504–177519, 2024, doi:10.1109/ACCESS.2024.3495528.Keywords: Sports Machine Learning; Accuracy; Prediction Algorithms; Machine Learning Algorithms; Deep Learning; Random Forests; Performance Analysis; Cricket Player Prediction; Ranking Algorithms; Learning to Rank.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[2]. Z. Pu et al., "Orientation and Decision-Making for Soccer Based on Sports Analytics and AI: A Systematic Review," in IEEE/CAA Journal of AutomaticaSinica,vol.11,no.1,pp.3–72024, doi:10.1109/JAS.2023.123807.Keywords:Tracking Loops; Systematics; Decision-Making; Taxonomy; Virtual Environments; Reinforcement Learning; Benchmark Testing; AI; Sports Analytics.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[3]. M. Soloviev, P. Aksenov, A.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Skhvediani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, T.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Tenishev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, F.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Kolomenskiy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and E.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Bormontova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, "Text Mining-Based Analysis of Content Topics and User Engagement in University Social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Media,"in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IEEE Access, vol. 12, pp. 150354–150371, 2024, doi:10.1109/ACCESS.2024.3474794.Keywords: Social Networking; Stakeholders; Decision Making; Analytical Models; Sentiment Analysis; Data Visualization; Topic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Modeling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; University Media.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[4]. C. Mou, "The Attention Mechanism Performance Analysis for Football Players Using the Internet of Things and Deep Learning," in IEEE Access, vol.12,pp4948 4957,2024,doi:10.1109/ACCESS.2024.3350036.Keywords: Sports Sensors; Big Data; Analytical Models; IoT; Deep Learning; Attention Mechanism; Football Player Performance.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[5]. J. Liu et al., "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PoseCoach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: A Customizable Analysis and Visualization System for Video-Based Running Coaching," in IEEE Transactions on Visualization and Computer Graphics,vol.30,no.7,pp.3180–3195, 2024, doi:10.1109/TVCG.2022.3230855.Keywords: Video Processing; Sports 48 Data Analysis; Three-Dimensional Displays; Human Pose Estimation; Data Visualization.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ile:///C:\Users\inamu\AppData\Local\Microsoft\Windows\INetCache\IE\AppData\Local\Microsoft\Windows\INetCache\IE\7FNK63P2\crescent-logo%25252525252525255b1%25252525252525255d.png"/>
          <p:cNvPicPr/>
          <p:nvPr/>
        </p:nvPicPr>
        <p:blipFill>
          <a:blip r:embed="rId2" r:link="rId3"/>
          <a:stretch>
            <a:fillRect/>
          </a:stretch>
        </p:blipFill>
        <p:spPr>
          <a:xfrm>
            <a:off x="9441180" y="24765"/>
            <a:ext cx="2725200" cy="74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47493" y="31621"/>
            <a:ext cx="595292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DEPARTMENT OF COMPUTER SCIENCE AND ENGINEERING</a:t>
            </a:r>
            <a:endParaRPr lang="en-IN" sz="1600" b="1" dirty="0"/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216132" y="304972"/>
            <a:ext cx="8424016" cy="7564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1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16132" y="1544308"/>
            <a:ext cx="11561445" cy="473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[6]. Cao et al., "Team-Builder: Toward More Effective Lineup Selection in Soccer," in IEEE Transactions on Visualization and Computer Graphics, vol.29,no.12,pp.51785193,2023,doi:10.1109/TVCG.2022.3207147.Keywo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rds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: Sports Visualization; Lineup Selection; Trajectory Analysis; Computational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Modeling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; Visual Analytics.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[7]. G. Annino et al., "Assessing Sports Performances Using an Artificial Intelligence-Driven System," 2023 IEEE International Workshop on Sport,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TechnologyandResearch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(STAR),Cavalese,Trento,Italy,2023,pp.98103,doi :10.1109/STAR58331.2023.10302647.Keywords: Biomechanics; Stereo Image Processing; Pose Estimation; Sport Assessment; Video Analysis; Tennis; Water Polo; Roller Skating.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[8]. F. Wu and H. Chen, "The Analysis of Technical Characteristics of Badminton for Sports With Neurorobotics Under Machine Learning," in IEEEAccess,vol.11,pp.–144348,2023, doi:10.1109/ACCESS.2023.3345636.Keywords: Neurorobotics; CNNs; Badminton Action Feature Extraction; Machine Learning; Binocular Vision.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[9]. Z. Ziyi, R. Bunker, K. Takeda and K. Fujii, "Multi-Agent Deep-Learning Based Comparative Analysis of Team Sport Trajectories," in IEEE Access, vol.11,pp.4330543315,2023,doi:10.1109/ACCESS.2023.3269287.Keywor ds: Multi-Agent Systems; Trajectory Analysis; Machine Learning; Unsupervised Learning; Team Sports.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[10]. Anik, S.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Yeaser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, A. G. M. I. Hossain, and A. Chakrabarty, "Player’s Performance Prediction in ODI Cricket Using Machine Learning Algorithms,"Proc.4thInt.Conf.Electr.Eng.Inf.Commun.Technol.(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iCEEiCT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),2 018,pp.500505.Available:https://ieeexplore.ieee.org/abstract/document/86 2811.Keywords:Player Performance Prediction; Machine Learning; Random Forests; Decision Trees; ODI Cricket.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2998</Words>
  <Application>Microsoft Office PowerPoint</Application>
  <PresentationFormat>Widescreen</PresentationFormat>
  <Paragraphs>298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Comfortaa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shakeel R</dc:creator>
  <cp:lastModifiedBy>shakeel R</cp:lastModifiedBy>
  <cp:revision>2</cp:revision>
  <dcterms:created xsi:type="dcterms:W3CDTF">2025-04-20T21:39:45Z</dcterms:created>
  <dcterms:modified xsi:type="dcterms:W3CDTF">2025-04-21T22:00:58Z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E6031931BCAF4414969826F844179391_11</vt:lpwstr>
  </property>
  <property fmtid="{D5CDD505-2E9C-101B-9397-08002B2CF9AE}" pid="3" name="KSOProductBuildVer">
    <vt:lpwstr>1033-12.2.0.20795</vt:lpwstr>
  </property>
</Properties>
</file>